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8" r:id="rId4"/>
    <p:sldId id="269" r:id="rId5"/>
    <p:sldId id="270" r:id="rId6"/>
    <p:sldId id="257" r:id="rId7"/>
    <p:sldId id="258" r:id="rId8"/>
    <p:sldId id="259" r:id="rId9"/>
    <p:sldId id="271" r:id="rId10"/>
    <p:sldId id="260" r:id="rId11"/>
    <p:sldId id="261" r:id="rId12"/>
    <p:sldId id="262" r:id="rId13"/>
    <p:sldId id="263" r:id="rId14"/>
    <p:sldId id="264" r:id="rId15"/>
    <p:sldId id="265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F04BFA-D15C-4B5F-8F0C-A1CE6A8B6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7D76DB-F49E-4623-BD45-3FFC02B463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520BE5-ECCA-4531-8172-940C55F4E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025C-2814-4BFA-9DFD-8BE3FEC5F139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0FA95A-2D63-4D11-B66A-B5D25D655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09B262-EBF1-44D4-B449-D0953833D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6CF1-9FF2-4B49-91D9-306E16137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072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119BF1-9791-4968-97E2-116182504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15D1D0-43BD-47AE-8519-49ECCC456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D69961-57E2-4745-93F0-386C57834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025C-2814-4BFA-9DFD-8BE3FEC5F139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640CC1-3897-4864-B064-59B36218E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1E2954-B68C-4049-872D-396B09729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6CF1-9FF2-4B49-91D9-306E16137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4114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33464-09BF-4E47-A311-0E597A78B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52D21D-3BB6-46B3-9673-8D9C60A12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D85EDA-0187-41C2-AFAC-856B28478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025C-2814-4BFA-9DFD-8BE3FEC5F139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3E46C5-8634-4777-A59D-5ECF33076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8ADD37-D337-4690-8A74-1074803C1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6CF1-9FF2-4B49-91D9-306E16137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816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2458CB-227F-4C54-B666-F0AFD68F7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357740-69F0-4D26-9181-CE8B7F54DD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FBEB88-1376-4F21-B58F-D25F14274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E1B12D-D087-4566-B955-2BD75C01F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025C-2814-4BFA-9DFD-8BE3FEC5F139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42360B-909D-4CDC-BBE4-DC90B70DF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3EB9CF-C80B-43F4-9EB4-E3A5EEDE2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6CF1-9FF2-4B49-91D9-306E16137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2259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74173-EAF8-411C-ADCF-F46123005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9BA822-6194-4518-8F6E-62E0AB977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3188A1A-0B3B-4922-8491-CF6F8C95E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877A85A-3EC1-4D34-A483-CC6D84632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1D0111D-AE52-42AA-8CA9-95DD350806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60F2A05-68E2-45C2-A24C-4898EAC86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025C-2814-4BFA-9DFD-8BE3FEC5F139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D787B5C-5DF9-4AD5-ACF2-2574586E4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229F3C0-F4E5-4C32-BB79-367FA98E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6CF1-9FF2-4B49-91D9-306E16137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073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05FB61-1D23-4243-9706-B760A7F1E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D08BEC2-22E3-4DB8-A571-AD306C23D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025C-2814-4BFA-9DFD-8BE3FEC5F139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421F7B1-F0B4-4E91-B972-2A63E7870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010A092-1E88-4534-8945-29018241A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6CF1-9FF2-4B49-91D9-306E16137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088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CE9D838-6B36-4DEB-8859-8E57F4FC6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025C-2814-4BFA-9DFD-8BE3FEC5F139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A45A0BD-8340-421F-80A7-4B0A34817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BEAB85-FB1F-42BF-BD3B-8B9CC265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6CF1-9FF2-4B49-91D9-306E16137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0370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5C521D-8E6E-420C-9350-60E19FF2B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5003FF-F788-42C0-A868-058C782CF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AF786E-4F1F-4D75-8B53-8168B4B9E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FE10A6-4382-4506-93A6-F01D90DB2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025C-2814-4BFA-9DFD-8BE3FEC5F139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E60C5C-9CF7-430C-BC9C-B83DE0FA5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3CF309-51DB-4103-8A76-E9DDFD510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6CF1-9FF2-4B49-91D9-306E16137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287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6F1E04-2F4D-43AB-8A9E-B5B2FB683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BCE2801-D102-4AF7-8BB6-E08758CA96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8209BC-BE0B-4F78-ABE9-29B99DC0D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B3F373-5869-42DF-926E-511519065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025C-2814-4BFA-9DFD-8BE3FEC5F139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FDDC55-8F29-4AC1-BAE4-86BBF0DAB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3D81EF-2804-415E-B765-06BF64428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6CF1-9FF2-4B49-91D9-306E16137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7029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F21448-E9A8-46C8-8D94-535E3A3D5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7393EAD-A452-4E27-B12B-25C45A9EA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9D178C-4C30-4C79-9FDA-20548A87F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025C-2814-4BFA-9DFD-8BE3FEC5F139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E19C8A-A2B8-43FD-90F6-9D9544ABE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C325EA-4FD5-4600-9A03-F1205CDAB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6CF1-9FF2-4B49-91D9-306E16137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424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047F6A5-0F46-4EFC-897B-0CEBE74040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630886A-80C6-4731-A89B-57B325FE4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258A93-FBB7-4F91-80C4-09996455C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2025C-2814-4BFA-9DFD-8BE3FEC5F139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D4D552-523F-4CA8-AE85-9E9AFED05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2A28FA-8579-4A7F-A9A2-1E5AEA2A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16CF1-9FF2-4B49-91D9-306E16137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516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B132D4-DC3E-4345-9A72-06A61E01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6B70D2-22A8-45FE-98AA-8F23CA488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F8796C-3F5D-4316-90F1-1BE12668A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2025C-2814-4BFA-9DFD-8BE3FEC5F139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02D319-EED1-4472-BB5E-03E51D239C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F7044C-617C-4D12-963F-1AC876947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16CF1-9FF2-4B49-91D9-306E16137E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3333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067339"/>
            <a:ext cx="9144000" cy="1442624"/>
          </a:xfrm>
        </p:spPr>
        <p:txBody>
          <a:bodyPr>
            <a:noAutofit/>
          </a:bodyPr>
          <a:lstStyle/>
          <a:p>
            <a:r>
              <a:rPr lang="ru-RU" sz="3600" dirty="0"/>
              <a:t>Курсовой проект</a:t>
            </a:r>
            <a:br>
              <a:rPr lang="ru-RU" sz="3600" dirty="0"/>
            </a:br>
            <a:r>
              <a:rPr lang="ru-RU" sz="3600" dirty="0"/>
              <a:t>на тему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«</a:t>
            </a:r>
            <a:r>
              <a:rPr lang="ru-RU" sz="3600" dirty="0">
                <a:effectLst/>
                <a:ea typeface="Calibri" panose="020F0502020204030204" pitchFamily="34" charset="0"/>
              </a:rPr>
              <a:t>Проектирование ИС ”Торговая площадка </a:t>
            </a:r>
            <a:r>
              <a:rPr lang="en-US" sz="3600" dirty="0">
                <a:effectLst/>
                <a:ea typeface="Calibri" panose="020F0502020204030204" pitchFamily="34" charset="0"/>
              </a:rPr>
              <a:t>Steam</a:t>
            </a:r>
            <a:r>
              <a:rPr lang="ru-RU" sz="3600" dirty="0">
                <a:effectLst/>
                <a:ea typeface="Calibri" panose="020F0502020204030204" pitchFamily="34" charset="0"/>
              </a:rPr>
              <a:t>”»</a:t>
            </a:r>
            <a:endParaRPr lang="ru-RU" sz="36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944140" y="4073180"/>
            <a:ext cx="4850296" cy="1651759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Выполнил: </a:t>
            </a:r>
            <a:r>
              <a:rPr lang="ru-RU" sz="2000" kern="1100" dirty="0" err="1"/>
              <a:t>Богордаев</a:t>
            </a:r>
            <a:r>
              <a:rPr lang="ru-RU" sz="2000" kern="1100" dirty="0"/>
              <a:t> К.А., 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студентка 2 курса очной формы обучения, 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группы </a:t>
            </a:r>
            <a:r>
              <a:rPr lang="ru-RU" sz="2000" kern="1100" dirty="0" err="1"/>
              <a:t>ИСиП</a:t>
            </a:r>
            <a:r>
              <a:rPr lang="ru-RU" sz="2000" kern="1100" dirty="0"/>
              <a:t> 24-9-2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Проверила: Гончарова Т.В., должность: преподаватель проф. дисциплин</a:t>
            </a:r>
          </a:p>
          <a:p>
            <a:endParaRPr lang="ru-RU" sz="1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53143" y="303793"/>
            <a:ext cx="1098731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ГОСУДАРСТВЕННОЕ АВТОНОМНОЕ ПРОФЕССИОНАЛЬНОЕ ОБРАЗОВАТЕЛЬНОЕ </a:t>
            </a:r>
          </a:p>
          <a:p>
            <a:pPr algn="ctr"/>
            <a:r>
              <a:rPr lang="ru-RU" sz="2000" dirty="0"/>
              <a:t>УЧРЕЖДЕНИЕ  ТЮМЕНСКОЙ ОБЛАСТИ </a:t>
            </a:r>
          </a:p>
          <a:p>
            <a:pPr algn="ctr"/>
            <a:r>
              <a:rPr lang="ru-RU" sz="2000" dirty="0"/>
              <a:t>«ТЮМЕНСКИЙ ТЕХНИКУМ СТРОИТЕЛЬНОЙ ИНДУСТРИИ И ГОРОДСКОГО ХОЗЯЙСТВА»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96801" y="6288156"/>
            <a:ext cx="20938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+mj-lt"/>
              </a:rPr>
              <a:t>г. Тюмень, 2026 г.</a:t>
            </a:r>
          </a:p>
        </p:txBody>
      </p:sp>
    </p:spTree>
    <p:extLst>
      <p:ext uri="{BB962C8B-B14F-4D97-AF65-F5344CB8AC3E}">
        <p14:creationId xmlns:p14="http://schemas.microsoft.com/office/powerpoint/2010/main" val="1750386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1E2A51-C4D6-43A5-AC0C-9E4A7C37E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A9172D-ECA3-4181-8904-FEB85722E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Предметная область представляет собой маркетплейс для обмена внутриигровыми предметами.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Основные бизнес-процессы включают: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Регистрация: пользователь вводит данные для регистрации и создает аккаунт.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Поиск и выбор товаров: пользователь ищет товар в каталоге по категориям и названию.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Покупка и продажа цифровых товаров: пользователи приобретают и продают внутриигровые предметы.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Доставка и поддержка пользователей: предмет начисляется в инвентарь пользователю.</a:t>
            </a:r>
          </a:p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появлении проблем с доставкой осуществляется поддержка пользователей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82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048E3E-097E-413B-A606-A5AFC9187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3A3302-5579-4C2D-8C7F-93E4E1D54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Конкуренция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1969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95157-47A0-4682-A191-B2C72A474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46B569-F1B5-4684-8676-3949740CA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4625"/>
            <a:ext cx="10515600" cy="4878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Целью данного проекта является проектирование информационной системы торговой площадки 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Steam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с учетом современных требований к функциональности, безопасности и удобству использования. </a:t>
            </a:r>
          </a:p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Задачи: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Провести анализ предметной области и выявить основные бизнес-процессы;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Определить категории пользователей, их запросы и сценарии взаимодействия с системой;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Разработать функциональные и информационные модели предметной области;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Спроектировать архитектуру информационной системы и базу данных;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Разработать техническое задание на создание портала;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Реализовать концептуальную, логическую и физическую модели данных;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Разработать основные SQL-запросы для реализации ключевых операций.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550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31315-CB59-451E-8ACA-61F7D430C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A1A2C2-4B36-4E55-A89F-906141B31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Объектом исследования является процесс организации торговли внутриигровыми предметами на специализированных цифровых платформах.</a:t>
            </a:r>
          </a:p>
          <a:p>
            <a:pPr marL="0" indent="0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Предметом исследования выступает информационная система, предназначенная для автоматизации процессов публикации, поиска, покупки и продажи цифровых товаров, а также управления учётными записями и транзакциями пользователей.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960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BF37A1-D9D6-41D4-AD92-60BA67E26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0444" y="292928"/>
            <a:ext cx="10515600" cy="1325563"/>
          </a:xfrm>
        </p:spPr>
        <p:txBody>
          <a:bodyPr/>
          <a:lstStyle/>
          <a:p>
            <a:r>
              <a:rPr lang="en-US" dirty="0"/>
              <a:t>IDEF0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E378CB3-A3A1-486E-ACEC-020419FA267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7051" y="1690688"/>
            <a:ext cx="42178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626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7DA0DE-69D7-441F-AFF5-1AB29C92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127" y="356177"/>
            <a:ext cx="10515600" cy="1325563"/>
          </a:xfrm>
        </p:spPr>
        <p:txBody>
          <a:bodyPr/>
          <a:lstStyle/>
          <a:p>
            <a:r>
              <a:rPr lang="ru-RU" dirty="0"/>
              <a:t>Декомпозиция </a:t>
            </a:r>
            <a:r>
              <a:rPr lang="en-US" dirty="0"/>
              <a:t>IDEF0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DA54E0D-B8D9-45E0-AB75-C166DA18A2D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4330" y="1690688"/>
            <a:ext cx="63033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933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C75D08-F314-44AD-8540-90C5D9C60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956" y="265734"/>
            <a:ext cx="10515600" cy="1325563"/>
          </a:xfrm>
        </p:spPr>
        <p:txBody>
          <a:bodyPr/>
          <a:lstStyle/>
          <a:p>
            <a:r>
              <a:rPr lang="en-US" dirty="0"/>
              <a:t>DFD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710870F-CCAF-45FF-BFD5-873D7A94150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9830" y="1597233"/>
            <a:ext cx="3972339" cy="489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21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98611D-A448-41EA-9EC0-5CCD6C001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Техническое 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F5DF7E-00D3-4523-A2CC-29D85F077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Данный проект предполагает разработку торговой площадки, которая станет основным ресурсом для торговли внутриигровыми предметами. Торговая площадка будет включать в себя фильтры для удобного поиска, разделение по играм, редкости, качеству и цене предмета.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26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E21688-A85D-4E50-80DD-8781E9A7A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809" y="365125"/>
            <a:ext cx="10515600" cy="1325563"/>
          </a:xfrm>
        </p:spPr>
        <p:txBody>
          <a:bodyPr/>
          <a:lstStyle/>
          <a:p>
            <a:r>
              <a:rPr lang="ru-RU" dirty="0"/>
              <a:t>Диаграмма вариантов использования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2657EE0-7C82-49A5-A468-3FEBC2C2BB3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9404" y="1690688"/>
            <a:ext cx="537319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057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BAC2C-E9EE-48A0-B3D2-56C827584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053" y="291202"/>
            <a:ext cx="10515600" cy="1325563"/>
          </a:xfrm>
        </p:spPr>
        <p:txBody>
          <a:bodyPr/>
          <a:lstStyle/>
          <a:p>
            <a:r>
              <a:rPr lang="ru-RU" dirty="0"/>
              <a:t>Диаграмма деятельности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7E8B154-0B0E-45E6-9BE7-3808CE2FDA3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771900" y="1468715"/>
            <a:ext cx="4648200" cy="5098083"/>
          </a:xfrm>
          <a:prstGeom prst="rect">
            <a:avLst/>
          </a:prstGeo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EE50671C-FAF4-459C-9E34-DEB39A332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847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20E8EA-8523-4442-B6AD-6C044AE28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930" y="365125"/>
            <a:ext cx="10515600" cy="1325563"/>
          </a:xfrm>
        </p:spPr>
        <p:txBody>
          <a:bodyPr/>
          <a:lstStyle/>
          <a:p>
            <a:r>
              <a:rPr lang="ru-RU" dirty="0"/>
              <a:t>Диаграмма последовательности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9C5D55EE-EFDB-4CBB-AEB0-96D6B7A0256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2108" y="1690688"/>
            <a:ext cx="362778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98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E207A5-A662-4129-868F-8A6113A54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600" y="365125"/>
            <a:ext cx="10515600" cy="1325563"/>
          </a:xfrm>
        </p:spPr>
        <p:txBody>
          <a:bodyPr/>
          <a:lstStyle/>
          <a:p>
            <a:r>
              <a:rPr lang="ru-RU" dirty="0"/>
              <a:t>Диаграмма классов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FC9C1FC-14DD-4354-911F-2B7494706D1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3599" y="1690688"/>
            <a:ext cx="574480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663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F51172-FD7D-4D3F-ABB2-DB1EFC9C9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Концептуальная модель данных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4E93249-8CB1-42DD-B8E4-0852B6C7901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5441" y="1690688"/>
            <a:ext cx="38611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378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2BA155-0A78-4E68-ACFF-9FC83D776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Логическая модель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A6219B-F372-462D-83B4-9046107B2A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55913" y="1825625"/>
            <a:ext cx="8680173" cy="4652963"/>
          </a:xfrm>
          <a:prstGeom prst="rect">
            <a:avLst/>
          </a:prstGeo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8C51BEB2-174B-43D8-8E2B-11A334DF0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8781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5DDA41-248E-4396-B175-3938E4BC1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Запрос на регистрацию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1C8E895-97ED-467E-87A7-6211149D063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8048" y="1961945"/>
            <a:ext cx="6115904" cy="146705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4B880C-471C-4685-8137-07162F43BBF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038048" y="3429000"/>
            <a:ext cx="5940425" cy="198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54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645C20-0456-424A-8468-1D4D4DA12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Запрос на поиск товара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4E73F40-7EFD-4538-9A12-4710EF08F8E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11490"/>
            <a:ext cx="10515600" cy="257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323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49A52F-32E8-4FCF-8F90-51200879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Запрос на создание лота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F280577B-81B2-437E-BB74-7159E97E0CE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7518" y="1825625"/>
            <a:ext cx="94369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003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15AD57-3A0A-41F2-8889-6ED3D710E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Пользовательский интерфейс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7B30ACC-86EE-4EAA-9063-5D9CCC939D4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9380" y="1825625"/>
            <a:ext cx="80332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712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2F3901-E466-4883-B083-72B5278E8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B7657B4A-BD3E-433A-B086-7FACA094BD3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3872" y="1825625"/>
            <a:ext cx="806425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877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8DBAF-69C3-4427-A422-D0C9AAB0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0EABAA8-83F7-47E2-9ADB-464FFDF099D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3239" y="1825625"/>
            <a:ext cx="80255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681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AB208C-DE31-4D6B-B832-8EF975CA4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3DBFAA-8124-4FCA-AA9C-68411E4BD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рамках курсового проекта была проведена комплексная работа по проектированию и моделированию информационной системы для торговой площадки внутриигровых предметов, аналогичной платформе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Steam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В процессе выполнения проекта были достигнуты следующие ключевые результаты: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Проведён детальный анализ предметной области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Выполнено сравнение с существующими аналогами</a:t>
            </a:r>
            <a:endParaRPr lang="ru-RU" sz="1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Построены функциональные модели предметной области с использованием нотаций IDEF0 и DFD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Разработаны основные UML-диаграммы: вариантов использования, деятельности, последовательности и классов.</a:t>
            </a:r>
            <a:endParaRPr lang="ru-RU" sz="18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Спроектирована и реализована база данных: созданы концептуальная, логическая и физическая модели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Сформулировано техническое задание на разработку</a:t>
            </a:r>
          </a:p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Проведённая работа подтверждает актуальность и востребованность подобных информационных систем в условиях развития цифровой экономики.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8596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DB4C13-C790-4F04-911D-34B50B411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5139" y="2766218"/>
            <a:ext cx="10515600" cy="1325563"/>
          </a:xfrm>
        </p:spPr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30EA09-4A39-49AB-AFE6-EF738BFDC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444" y="4091781"/>
            <a:ext cx="2207992" cy="535637"/>
          </a:xfrm>
        </p:spPr>
        <p:txBody>
          <a:bodyPr>
            <a:normAutofit/>
          </a:bodyPr>
          <a:lstStyle/>
          <a:p>
            <a:r>
              <a:rPr lang="ru-RU" sz="200" dirty="0"/>
              <a:t>И за понимание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2200517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465</Words>
  <Application>Microsoft Office PowerPoint</Application>
  <PresentationFormat>Широкоэкранный</PresentationFormat>
  <Paragraphs>57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Тема Office</vt:lpstr>
      <vt:lpstr>Курсовой проект на тему «Проектирование ИС ”Торговая площадка Steam”»</vt:lpstr>
      <vt:lpstr>Описание предметной области</vt:lpstr>
      <vt:lpstr>Проблематика</vt:lpstr>
      <vt:lpstr>Цели и задачи</vt:lpstr>
      <vt:lpstr>Презентация PowerPoint</vt:lpstr>
      <vt:lpstr>IDEF0</vt:lpstr>
      <vt:lpstr>Декомпозиция IDEF0</vt:lpstr>
      <vt:lpstr>DFD</vt:lpstr>
      <vt:lpstr>Техническое задание</vt:lpstr>
      <vt:lpstr>Диаграмма вариантов использования</vt:lpstr>
      <vt:lpstr>Диаграмма деятельности</vt:lpstr>
      <vt:lpstr>Диаграмма последовательности</vt:lpstr>
      <vt:lpstr>Диаграмма классов</vt:lpstr>
      <vt:lpstr>Концептуальная модель данных</vt:lpstr>
      <vt:lpstr>Логическая модель данных</vt:lpstr>
      <vt:lpstr>Запрос на регистрацию</vt:lpstr>
      <vt:lpstr>Запрос на поиск товара</vt:lpstr>
      <vt:lpstr>Запрос на создание лота</vt:lpstr>
      <vt:lpstr>Пользовательский интерфейс</vt:lpstr>
      <vt:lpstr>Презентация PowerPoint</vt:lpstr>
      <vt:lpstr>Презентация PowerPoint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информационной системы «Торговая площадка Steam»</dc:title>
  <dc:creator>бурмалда</dc:creator>
  <cp:lastModifiedBy>бурмалда</cp:lastModifiedBy>
  <cp:revision>5</cp:revision>
  <dcterms:created xsi:type="dcterms:W3CDTF">2026-05-10T13:10:06Z</dcterms:created>
  <dcterms:modified xsi:type="dcterms:W3CDTF">2026-05-10T16:53:43Z</dcterms:modified>
</cp:coreProperties>
</file>